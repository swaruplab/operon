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65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E2A78"/>
          </a:solidFill>
          <a:ln w="12700">
            <a:solidFill>
              <a:srgbClr val="1E2A78"/>
            </a:solidFill>
            <a:prstDash val="solid"/>
          </a:ln>
        </p:spPr>
        <p:txBody>
          <a:bodyPr/>
          <a:lstStyle/>
          <a:p>
            <a:endParaRPr lang="en-US"/>
          </a:p>
        </p:txBody>
      </p:sp>
      <p:sp>
        <p:nvSpPr>
          <p:cNvPr id="3" name="Shape 1"/>
          <p:cNvSpPr/>
          <p:nvPr/>
        </p:nvSpPr>
        <p:spPr>
          <a:xfrm>
            <a:off x="-1097280" y="-1097280"/>
            <a:ext cx="2926080" cy="2926080"/>
          </a:xfrm>
          <a:prstGeom prst="ellipse">
            <a:avLst/>
          </a:prstGeom>
          <a:solidFill>
            <a:srgbClr val="0F1B5C"/>
          </a:solidFill>
          <a:ln w="12700">
            <a:solidFill>
              <a:srgbClr val="0F1B5C"/>
            </a:solidFill>
            <a:prstDash val="solid"/>
          </a:ln>
        </p:spPr>
        <p:txBody>
          <a:bodyPr/>
          <a:lstStyle/>
          <a:p>
            <a:endParaRPr lang="en-US"/>
          </a:p>
        </p:txBody>
      </p:sp>
      <p:sp>
        <p:nvSpPr>
          <p:cNvPr id="4" name="Shape 2"/>
          <p:cNvSpPr/>
          <p:nvPr/>
        </p:nvSpPr>
        <p:spPr>
          <a:xfrm>
            <a:off x="2011680" y="3566160"/>
            <a:ext cx="2194560" cy="2194560"/>
          </a:xfrm>
          <a:prstGeom prst="ellipse">
            <a:avLst/>
          </a:prstGeom>
          <a:solidFill>
            <a:srgbClr val="0F1B5C"/>
          </a:solidFill>
          <a:ln w="12700">
            <a:solidFill>
              <a:srgbClr val="0F1B5C"/>
            </a:solidFill>
            <a:prstDash val="solid"/>
          </a:ln>
        </p:spPr>
        <p:txBody>
          <a:bodyPr/>
          <a:lstStyle/>
          <a:p>
            <a:endParaRPr lang="en-US"/>
          </a:p>
        </p:txBody>
      </p:sp>
      <p:sp>
        <p:nvSpPr>
          <p:cNvPr id="5" name="Text 3"/>
          <p:cNvSpPr/>
          <p:nvPr/>
        </p:nvSpPr>
        <p:spPr>
          <a:xfrm>
            <a:off x="365760" y="365760"/>
            <a:ext cx="2926080" cy="320040"/>
          </a:xfrm>
          <a:prstGeom prst="rect">
            <a:avLst/>
          </a:prstGeom>
          <a:noFill/>
          <a:ln/>
        </p:spPr>
        <p:txBody>
          <a:bodyPr wrap="square" lIns="0" tIns="0" rIns="0" bIns="0" rtlCol="0" anchor="ctr"/>
          <a:lstStyle/>
          <a:p>
            <a:pPr marL="0" indent="0">
              <a:buNone/>
            </a:pPr>
            <a:r>
              <a:rPr lang="en-US" sz="1100" b="1" kern="0" spc="400" dirty="0">
                <a:solidFill>
                  <a:srgbClr val="BFC8FF"/>
                </a:solidFill>
                <a:latin typeface="Calibri" pitchFamily="34" charset="0"/>
                <a:ea typeface="Calibri" pitchFamily="34" charset="-122"/>
                <a:cs typeface="Calibri" pitchFamily="34" charset="-120"/>
              </a:rPr>
              <a:t>SWARUP LAB · UC IRVINE</a:t>
            </a:r>
            <a:endParaRPr lang="en-US" sz="1100" dirty="0"/>
          </a:p>
        </p:txBody>
      </p:sp>
      <p:sp>
        <p:nvSpPr>
          <p:cNvPr id="6" name="Text 4"/>
          <p:cNvSpPr/>
          <p:nvPr/>
        </p:nvSpPr>
        <p:spPr>
          <a:xfrm>
            <a:off x="365760" y="1097280"/>
            <a:ext cx="3017520" cy="1005840"/>
          </a:xfrm>
          <a:prstGeom prst="rect">
            <a:avLst/>
          </a:prstGeom>
          <a:noFill/>
          <a:ln/>
        </p:spPr>
        <p:txBody>
          <a:bodyPr wrap="square" lIns="0" tIns="0" rIns="0" bIns="0"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Operon</a:t>
            </a:r>
            <a:endParaRPr lang="en-US" sz="5200" dirty="0"/>
          </a:p>
        </p:txBody>
      </p:sp>
      <p:sp>
        <p:nvSpPr>
          <p:cNvPr id="7" name="Shape 5"/>
          <p:cNvSpPr/>
          <p:nvPr/>
        </p:nvSpPr>
        <p:spPr>
          <a:xfrm>
            <a:off x="411480" y="2103120"/>
            <a:ext cx="731520" cy="73152"/>
          </a:xfrm>
          <a:prstGeom prst="rect">
            <a:avLst/>
          </a:prstGeom>
          <a:solidFill>
            <a:srgbClr val="F66B5E"/>
          </a:solidFill>
          <a:ln w="12700">
            <a:solidFill>
              <a:srgbClr val="F66B5E"/>
            </a:solidFill>
            <a:prstDash val="solid"/>
          </a:ln>
        </p:spPr>
        <p:txBody>
          <a:bodyPr/>
          <a:lstStyle/>
          <a:p>
            <a:endParaRPr lang="en-US"/>
          </a:p>
        </p:txBody>
      </p:sp>
      <p:sp>
        <p:nvSpPr>
          <p:cNvPr id="8" name="Text 6"/>
          <p:cNvSpPr/>
          <p:nvPr/>
        </p:nvSpPr>
        <p:spPr>
          <a:xfrm>
            <a:off x="365760" y="2286000"/>
            <a:ext cx="3017520" cy="1005840"/>
          </a:xfrm>
          <a:prstGeom prst="rect">
            <a:avLst/>
          </a:prstGeom>
          <a:noFill/>
          <a:ln/>
        </p:spPr>
        <p:txBody>
          <a:bodyPr wrap="square" lIns="0" tIns="0" rIns="0" bIns="0" rtlCol="0" anchor="ctr"/>
          <a:lstStyle/>
          <a:p>
            <a:pPr marL="0" indent="0">
              <a:buNone/>
            </a:pPr>
            <a:r>
              <a:rPr lang="en-US" sz="1700" i="1" dirty="0">
                <a:solidFill>
                  <a:srgbClr val="E5EAFF"/>
                </a:solidFill>
                <a:latin typeface="Calibri" pitchFamily="34" charset="0"/>
                <a:ea typeface="Calibri" pitchFamily="34" charset="-122"/>
                <a:cs typeface="Calibri" pitchFamily="34" charset="-120"/>
              </a:rPr>
              <a:t>Your AI research partner</a:t>
            </a:r>
            <a:endParaRPr lang="en-US" sz="1700" dirty="0"/>
          </a:p>
          <a:p>
            <a:pPr marL="0" indent="0">
              <a:buNone/>
            </a:pPr>
            <a:r>
              <a:rPr lang="en-US" sz="1700" i="1" dirty="0">
                <a:solidFill>
                  <a:srgbClr val="E5EAFF"/>
                </a:solidFill>
                <a:latin typeface="Calibri" pitchFamily="34" charset="0"/>
                <a:ea typeface="Calibri" pitchFamily="34" charset="-122"/>
                <a:cs typeface="Calibri" pitchFamily="34" charset="-120"/>
              </a:rPr>
              <a:t>for biology.</a:t>
            </a:r>
            <a:endParaRPr lang="en-US" sz="1700" dirty="0"/>
          </a:p>
        </p:txBody>
      </p:sp>
      <p:sp>
        <p:nvSpPr>
          <p:cNvPr id="9" name="Shape 7"/>
          <p:cNvSpPr/>
          <p:nvPr/>
        </p:nvSpPr>
        <p:spPr>
          <a:xfrm>
            <a:off x="411480" y="3657600"/>
            <a:ext cx="594360" cy="594360"/>
          </a:xfrm>
          <a:prstGeom prst="roundRect">
            <a:avLst>
              <a:gd name="adj" fmla="val 15385"/>
            </a:avLst>
          </a:prstGeom>
          <a:solidFill>
            <a:srgbClr val="0F1B5C"/>
          </a:solidFill>
          <a:ln w="12700">
            <a:solidFill>
              <a:srgbClr val="3A4CA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548640" y="3794760"/>
            <a:ext cx="320040" cy="320040"/>
          </a:xfrm>
          <a:prstGeom prst="rect">
            <a:avLst/>
          </a:prstGeom>
        </p:spPr>
      </p:pic>
      <p:sp>
        <p:nvSpPr>
          <p:cNvPr id="11" name="Shape 8"/>
          <p:cNvSpPr/>
          <p:nvPr/>
        </p:nvSpPr>
        <p:spPr>
          <a:xfrm>
            <a:off x="1188720" y="3657600"/>
            <a:ext cx="594360" cy="594360"/>
          </a:xfrm>
          <a:prstGeom prst="roundRect">
            <a:avLst>
              <a:gd name="adj" fmla="val 15385"/>
            </a:avLst>
          </a:prstGeom>
          <a:solidFill>
            <a:srgbClr val="0F1B5C"/>
          </a:solidFill>
          <a:ln w="12700">
            <a:solidFill>
              <a:srgbClr val="3A4CAB"/>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1325880" y="3794760"/>
            <a:ext cx="320040" cy="320040"/>
          </a:xfrm>
          <a:prstGeom prst="rect">
            <a:avLst/>
          </a:prstGeom>
        </p:spPr>
      </p:pic>
      <p:sp>
        <p:nvSpPr>
          <p:cNvPr id="13" name="Shape 9"/>
          <p:cNvSpPr/>
          <p:nvPr/>
        </p:nvSpPr>
        <p:spPr>
          <a:xfrm>
            <a:off x="1965960" y="3657600"/>
            <a:ext cx="594360" cy="594360"/>
          </a:xfrm>
          <a:prstGeom prst="roundRect">
            <a:avLst>
              <a:gd name="adj" fmla="val 15385"/>
            </a:avLst>
          </a:prstGeom>
          <a:solidFill>
            <a:srgbClr val="0F1B5C"/>
          </a:solidFill>
          <a:ln w="12700">
            <a:solidFill>
              <a:srgbClr val="3A4CAB"/>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2103120" y="3794760"/>
            <a:ext cx="320040" cy="320040"/>
          </a:xfrm>
          <a:prstGeom prst="rect">
            <a:avLst/>
          </a:prstGeom>
        </p:spPr>
      </p:pic>
      <p:sp>
        <p:nvSpPr>
          <p:cNvPr id="15" name="Shape 10"/>
          <p:cNvSpPr/>
          <p:nvPr/>
        </p:nvSpPr>
        <p:spPr>
          <a:xfrm>
            <a:off x="2743200" y="3657600"/>
            <a:ext cx="594360" cy="594360"/>
          </a:xfrm>
          <a:prstGeom prst="roundRect">
            <a:avLst>
              <a:gd name="adj" fmla="val 15385"/>
            </a:avLst>
          </a:prstGeom>
          <a:solidFill>
            <a:srgbClr val="0F1B5C"/>
          </a:solidFill>
          <a:ln w="12700">
            <a:solidFill>
              <a:srgbClr val="3A4CAB"/>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2880360" y="3794760"/>
            <a:ext cx="320040" cy="320040"/>
          </a:xfrm>
          <a:prstGeom prst="rect">
            <a:avLst/>
          </a:prstGeom>
        </p:spPr>
      </p:pic>
      <p:sp>
        <p:nvSpPr>
          <p:cNvPr id="17" name="Text 11"/>
          <p:cNvSpPr/>
          <p:nvPr/>
        </p:nvSpPr>
        <p:spPr>
          <a:xfrm>
            <a:off x="365760" y="4754880"/>
            <a:ext cx="2926080" cy="274320"/>
          </a:xfrm>
          <a:prstGeom prst="rect">
            <a:avLst/>
          </a:prstGeom>
          <a:noFill/>
          <a:ln/>
        </p:spPr>
        <p:txBody>
          <a:bodyPr wrap="square" lIns="0" tIns="0" rIns="0" bIns="0" rtlCol="0" anchor="ctr"/>
          <a:lstStyle/>
          <a:p>
            <a:pPr marL="0" indent="0">
              <a:buNone/>
            </a:pPr>
            <a:r>
              <a:rPr lang="en-US" sz="1100" dirty="0">
                <a:solidFill>
                  <a:srgbClr val="BFC8FF"/>
                </a:solidFill>
                <a:latin typeface="Calibri" pitchFamily="34" charset="0"/>
                <a:ea typeface="Calibri" pitchFamily="34" charset="-122"/>
                <a:cs typeface="Calibri" pitchFamily="34" charset="-120"/>
              </a:rPr>
              <a:t>swaruplab.bio.uci.edu/operon</a:t>
            </a:r>
            <a:endParaRPr lang="en-US" sz="1100" dirty="0"/>
          </a:p>
        </p:txBody>
      </p:sp>
      <p:sp>
        <p:nvSpPr>
          <p:cNvPr id="18" name="Text 12"/>
          <p:cNvSpPr/>
          <p:nvPr/>
        </p:nvSpPr>
        <p:spPr>
          <a:xfrm>
            <a:off x="3749040" y="411480"/>
            <a:ext cx="5120640" cy="411480"/>
          </a:xfrm>
          <a:prstGeom prst="rect">
            <a:avLst/>
          </a:prstGeom>
          <a:noFill/>
          <a:ln/>
        </p:spPr>
        <p:txBody>
          <a:bodyPr wrap="square" lIns="0" tIns="0" rIns="0" bIns="0" rtlCol="0" anchor="ctr"/>
          <a:lstStyle/>
          <a:p>
            <a:pPr marL="0" indent="0">
              <a:buNone/>
            </a:pPr>
            <a:r>
              <a:rPr lang="en-US" sz="1400" b="1" kern="0" spc="200" dirty="0">
                <a:solidFill>
                  <a:srgbClr val="0EA5A8"/>
                </a:solidFill>
                <a:latin typeface="Calibri" pitchFamily="34" charset="0"/>
                <a:ea typeface="Calibri" pitchFamily="34" charset="-122"/>
                <a:cs typeface="Calibri" pitchFamily="34" charset="-120"/>
              </a:rPr>
              <a:t>A simple desktop tool</a:t>
            </a:r>
            <a:endParaRPr lang="en-US" sz="1400" dirty="0"/>
          </a:p>
        </p:txBody>
      </p:sp>
      <p:sp>
        <p:nvSpPr>
          <p:cNvPr id="19" name="Text 13"/>
          <p:cNvSpPr/>
          <p:nvPr/>
        </p:nvSpPr>
        <p:spPr>
          <a:xfrm>
            <a:off x="3749040" y="822960"/>
            <a:ext cx="5120640" cy="1371600"/>
          </a:xfrm>
          <a:prstGeom prst="rect">
            <a:avLst/>
          </a:prstGeom>
          <a:noFill/>
          <a:ln/>
        </p:spPr>
        <p:txBody>
          <a:bodyPr wrap="square" lIns="0" tIns="0" rIns="0" bIns="0" rtlCol="0" anchor="ctr"/>
          <a:lstStyle/>
          <a:p>
            <a:pPr marL="0" indent="0">
              <a:spcAft>
                <a:spcPts val="400"/>
              </a:spcAft>
              <a:buNone/>
            </a:pPr>
            <a:r>
              <a:rPr lang="en-US" sz="3400" b="1" dirty="0">
                <a:solidFill>
                  <a:srgbClr val="1E2A78"/>
                </a:solidFill>
                <a:latin typeface="Georgia" pitchFamily="34" charset="0"/>
                <a:ea typeface="Georgia" pitchFamily="34" charset="-122"/>
                <a:cs typeface="Georgia" pitchFamily="34" charset="-120"/>
              </a:rPr>
              <a:t>that runs your biology</a:t>
            </a:r>
            <a:endParaRPr lang="en-US" sz="3400" dirty="0"/>
          </a:p>
          <a:p>
            <a:pPr marL="0" indent="0">
              <a:spcAft>
                <a:spcPts val="400"/>
              </a:spcAft>
              <a:buNone/>
            </a:pPr>
            <a:r>
              <a:rPr lang="en-US" sz="3400" b="1" dirty="0">
                <a:solidFill>
                  <a:srgbClr val="1E2A78"/>
                </a:solidFill>
                <a:latin typeface="Georgia" pitchFamily="34" charset="0"/>
                <a:ea typeface="Georgia" pitchFamily="34" charset="-122"/>
                <a:cs typeface="Georgia" pitchFamily="34" charset="-120"/>
              </a:rPr>
              <a:t>analyses for you.</a:t>
            </a:r>
            <a:endParaRPr lang="en-US" sz="3400" dirty="0"/>
          </a:p>
        </p:txBody>
      </p:sp>
      <p:sp>
        <p:nvSpPr>
          <p:cNvPr id="20" name="Text 14"/>
          <p:cNvSpPr/>
          <p:nvPr/>
        </p:nvSpPr>
        <p:spPr>
          <a:xfrm>
            <a:off x="3749040" y="2057400"/>
            <a:ext cx="5120640" cy="1097280"/>
          </a:xfrm>
          <a:prstGeom prst="rect">
            <a:avLst/>
          </a:prstGeom>
          <a:noFill/>
          <a:ln/>
        </p:spPr>
        <p:txBody>
          <a:bodyPr wrap="square" lIns="0" tIns="0" rIns="0" bIns="0" rtlCol="0" anchor="ctr"/>
          <a:lstStyle/>
          <a:p>
            <a:pPr marL="0" indent="0">
              <a:buNone/>
            </a:pPr>
            <a:r>
              <a:rPr lang="en-US" sz="1400" dirty="0">
                <a:solidFill>
                  <a:srgbClr val="3A4253"/>
                </a:solidFill>
                <a:latin typeface="Calibri" pitchFamily="34" charset="0"/>
                <a:ea typeface="Calibri" pitchFamily="34" charset="-122"/>
                <a:cs typeface="Calibri" pitchFamily="34" charset="-120"/>
              </a:rPr>
              <a:t>Operon puts an AI lab assistant on your laptop. Tell it what you want to do in plain English and it helps clean data, run analyses, and make figures for you. No prior coding experience required.</a:t>
            </a:r>
            <a:endParaRPr lang="en-US" sz="1400" dirty="0"/>
          </a:p>
        </p:txBody>
      </p:sp>
      <p:sp>
        <p:nvSpPr>
          <p:cNvPr id="21" name="Shape 15"/>
          <p:cNvSpPr/>
          <p:nvPr/>
        </p:nvSpPr>
        <p:spPr>
          <a:xfrm>
            <a:off x="3749040" y="3246120"/>
            <a:ext cx="1600200" cy="1463040"/>
          </a:xfrm>
          <a:prstGeom prst="rect">
            <a:avLst/>
          </a:prstGeom>
          <a:solidFill>
            <a:srgbClr val="F3F5FB"/>
          </a:solidFill>
          <a:ln w="12700">
            <a:solidFill>
              <a:srgbClr val="E3E7F5"/>
            </a:solidFill>
            <a:prstDash val="solid"/>
          </a:ln>
        </p:spPr>
        <p:txBody>
          <a:bodyPr/>
          <a:lstStyle/>
          <a:p>
            <a:endParaRPr lang="en-US"/>
          </a:p>
        </p:txBody>
      </p:sp>
      <p:sp>
        <p:nvSpPr>
          <p:cNvPr id="22" name="Shape 16"/>
          <p:cNvSpPr/>
          <p:nvPr/>
        </p:nvSpPr>
        <p:spPr>
          <a:xfrm>
            <a:off x="3886200" y="3383280"/>
            <a:ext cx="502920" cy="502920"/>
          </a:xfrm>
          <a:prstGeom prst="ellipse">
            <a:avLst/>
          </a:prstGeom>
          <a:solidFill>
            <a:srgbClr val="FFFFFF"/>
          </a:solidFill>
          <a:ln w="12700">
            <a:solidFill>
              <a:srgbClr val="D5DBEE"/>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3995928" y="3493008"/>
            <a:ext cx="292608" cy="292608"/>
          </a:xfrm>
          <a:prstGeom prst="rect">
            <a:avLst/>
          </a:prstGeom>
        </p:spPr>
      </p:pic>
      <p:sp>
        <p:nvSpPr>
          <p:cNvPr id="24" name="Text 17"/>
          <p:cNvSpPr/>
          <p:nvPr/>
        </p:nvSpPr>
        <p:spPr>
          <a:xfrm>
            <a:off x="3886200" y="3950208"/>
            <a:ext cx="1417320" cy="320040"/>
          </a:xfrm>
          <a:prstGeom prst="rect">
            <a:avLst/>
          </a:prstGeom>
          <a:noFill/>
          <a:ln/>
        </p:spPr>
        <p:txBody>
          <a:bodyPr wrap="square" lIns="0" tIns="0" rIns="0" bIns="0" rtlCol="0" anchor="ctr"/>
          <a:lstStyle/>
          <a:p>
            <a:pPr marL="0" indent="0">
              <a:buNone/>
            </a:pPr>
            <a:r>
              <a:rPr lang="en-US" sz="1300" b="1" dirty="0">
                <a:solidFill>
                  <a:srgbClr val="1E2A78"/>
                </a:solidFill>
                <a:latin typeface="Calibri" pitchFamily="34" charset="0"/>
                <a:ea typeface="Calibri" pitchFamily="34" charset="-122"/>
                <a:cs typeface="Calibri" pitchFamily="34" charset="-120"/>
              </a:rPr>
              <a:t>Chat to analyze</a:t>
            </a:r>
            <a:endParaRPr lang="en-US" sz="1300" dirty="0"/>
          </a:p>
        </p:txBody>
      </p:sp>
      <p:sp>
        <p:nvSpPr>
          <p:cNvPr id="25" name="Text 18"/>
          <p:cNvSpPr/>
          <p:nvPr/>
        </p:nvSpPr>
        <p:spPr>
          <a:xfrm>
            <a:off x="3886200" y="4251960"/>
            <a:ext cx="1417320" cy="502920"/>
          </a:xfrm>
          <a:prstGeom prst="rect">
            <a:avLst/>
          </a:prstGeom>
          <a:noFill/>
          <a:ln/>
        </p:spPr>
        <p:txBody>
          <a:bodyPr wrap="square" lIns="0" tIns="0" rIns="0" bIns="0" rtlCol="0" anchor="ctr"/>
          <a:lstStyle/>
          <a:p>
            <a:pPr marL="0" indent="0">
              <a:buNone/>
            </a:pPr>
            <a:r>
              <a:rPr lang="en-US" sz="1100" dirty="0">
                <a:solidFill>
                  <a:srgbClr val="3A4253"/>
                </a:solidFill>
                <a:latin typeface="Calibri" pitchFamily="34" charset="0"/>
                <a:ea typeface="Calibri" pitchFamily="34" charset="-122"/>
                <a:cs typeface="Calibri" pitchFamily="34" charset="-120"/>
              </a:rPr>
              <a:t>Ask for plots, tables,</a:t>
            </a:r>
            <a:endParaRPr lang="en-US" sz="1100" dirty="0"/>
          </a:p>
          <a:p>
            <a:pPr marL="0" indent="0">
              <a:buNone/>
            </a:pPr>
            <a:r>
              <a:rPr lang="en-US" sz="1100" dirty="0">
                <a:solidFill>
                  <a:srgbClr val="3A4253"/>
                </a:solidFill>
                <a:latin typeface="Calibri" pitchFamily="34" charset="0"/>
                <a:ea typeface="Calibri" pitchFamily="34" charset="-122"/>
                <a:cs typeface="Calibri" pitchFamily="34" charset="-120"/>
              </a:rPr>
              <a:t>or QC checks in words.</a:t>
            </a:r>
            <a:endParaRPr lang="en-US" sz="1100" dirty="0"/>
          </a:p>
        </p:txBody>
      </p:sp>
      <p:sp>
        <p:nvSpPr>
          <p:cNvPr id="26" name="Shape 19"/>
          <p:cNvSpPr/>
          <p:nvPr/>
        </p:nvSpPr>
        <p:spPr>
          <a:xfrm>
            <a:off x="5532120" y="3246120"/>
            <a:ext cx="1600200" cy="1463040"/>
          </a:xfrm>
          <a:prstGeom prst="rect">
            <a:avLst/>
          </a:prstGeom>
          <a:solidFill>
            <a:srgbClr val="F3F5FB"/>
          </a:solidFill>
          <a:ln w="12700">
            <a:solidFill>
              <a:srgbClr val="E3E7F5"/>
            </a:solidFill>
            <a:prstDash val="solid"/>
          </a:ln>
        </p:spPr>
        <p:txBody>
          <a:bodyPr/>
          <a:lstStyle/>
          <a:p>
            <a:endParaRPr lang="en-US"/>
          </a:p>
        </p:txBody>
      </p:sp>
      <p:sp>
        <p:nvSpPr>
          <p:cNvPr id="27" name="Shape 20"/>
          <p:cNvSpPr/>
          <p:nvPr/>
        </p:nvSpPr>
        <p:spPr>
          <a:xfrm>
            <a:off x="5669280" y="3383280"/>
            <a:ext cx="502920" cy="502920"/>
          </a:xfrm>
          <a:prstGeom prst="ellipse">
            <a:avLst/>
          </a:prstGeom>
          <a:solidFill>
            <a:srgbClr val="FFFFFF"/>
          </a:solidFill>
          <a:ln w="12700">
            <a:solidFill>
              <a:srgbClr val="D5DBEE"/>
            </a:solidFill>
            <a:prstDash val="solid"/>
          </a:ln>
        </p:spPr>
        <p:txBody>
          <a:bodyPr/>
          <a:lstStyle/>
          <a:p>
            <a:endParaRPr lang="en-US"/>
          </a:p>
        </p:txBody>
      </p:sp>
      <p:pic>
        <p:nvPicPr>
          <p:cNvPr id="28" name="Image 5" descr="preencoded.png"/>
          <p:cNvPicPr>
            <a:picLocks noChangeAspect="1"/>
          </p:cNvPicPr>
          <p:nvPr/>
        </p:nvPicPr>
        <p:blipFill>
          <a:blip r:embed="rId8"/>
          <a:stretch>
            <a:fillRect/>
          </a:stretch>
        </p:blipFill>
        <p:spPr>
          <a:xfrm>
            <a:off x="5779008" y="3493008"/>
            <a:ext cx="292608" cy="292608"/>
          </a:xfrm>
          <a:prstGeom prst="rect">
            <a:avLst/>
          </a:prstGeom>
        </p:spPr>
      </p:pic>
      <p:sp>
        <p:nvSpPr>
          <p:cNvPr id="29" name="Text 21"/>
          <p:cNvSpPr/>
          <p:nvPr/>
        </p:nvSpPr>
        <p:spPr>
          <a:xfrm>
            <a:off x="5669280" y="3950208"/>
            <a:ext cx="1417320" cy="320040"/>
          </a:xfrm>
          <a:prstGeom prst="rect">
            <a:avLst/>
          </a:prstGeom>
          <a:noFill/>
          <a:ln/>
        </p:spPr>
        <p:txBody>
          <a:bodyPr wrap="square" lIns="0" tIns="0" rIns="0" bIns="0" rtlCol="0" anchor="ctr"/>
          <a:lstStyle/>
          <a:p>
            <a:pPr marL="0" indent="0">
              <a:buNone/>
            </a:pPr>
            <a:r>
              <a:rPr lang="en-US" sz="1300" b="1" dirty="0">
                <a:solidFill>
                  <a:srgbClr val="1E2A78"/>
                </a:solidFill>
                <a:latin typeface="Calibri" pitchFamily="34" charset="0"/>
                <a:ea typeface="Calibri" pitchFamily="34" charset="-122"/>
                <a:cs typeface="Calibri" pitchFamily="34" charset="-120"/>
              </a:rPr>
              <a:t>Works on your HPC</a:t>
            </a:r>
            <a:endParaRPr lang="en-US" sz="1300" dirty="0"/>
          </a:p>
        </p:txBody>
      </p:sp>
      <p:sp>
        <p:nvSpPr>
          <p:cNvPr id="30" name="Text 22"/>
          <p:cNvSpPr/>
          <p:nvPr/>
        </p:nvSpPr>
        <p:spPr>
          <a:xfrm>
            <a:off x="5669280" y="4251960"/>
            <a:ext cx="1417320" cy="502920"/>
          </a:xfrm>
          <a:prstGeom prst="rect">
            <a:avLst/>
          </a:prstGeom>
          <a:noFill/>
          <a:ln/>
        </p:spPr>
        <p:txBody>
          <a:bodyPr wrap="square" lIns="0" tIns="0" rIns="0" bIns="0" rtlCol="0" anchor="ctr"/>
          <a:lstStyle/>
          <a:p>
            <a:pPr marL="0" indent="0">
              <a:buNone/>
            </a:pPr>
            <a:r>
              <a:rPr lang="en-US" sz="1100" dirty="0">
                <a:solidFill>
                  <a:srgbClr val="3A4253"/>
                </a:solidFill>
                <a:latin typeface="Calibri" pitchFamily="34" charset="0"/>
                <a:ea typeface="Calibri" pitchFamily="34" charset="-122"/>
                <a:cs typeface="Calibri" pitchFamily="34" charset="-120"/>
              </a:rPr>
              <a:t>Use your lab laptop</a:t>
            </a:r>
            <a:endParaRPr lang="en-US" sz="1100" dirty="0"/>
          </a:p>
          <a:p>
            <a:pPr marL="0" indent="0">
              <a:buNone/>
            </a:pPr>
            <a:r>
              <a:rPr lang="en-US" sz="1100" dirty="0">
                <a:solidFill>
                  <a:srgbClr val="3A4253"/>
                </a:solidFill>
                <a:latin typeface="Calibri" pitchFamily="34" charset="0"/>
                <a:ea typeface="Calibri" pitchFamily="34" charset="-122"/>
                <a:cs typeface="Calibri" pitchFamily="34" charset="-120"/>
              </a:rPr>
              <a:t>or a remote server.</a:t>
            </a:r>
            <a:endParaRPr lang="en-US" sz="1100" dirty="0"/>
          </a:p>
        </p:txBody>
      </p:sp>
      <p:sp>
        <p:nvSpPr>
          <p:cNvPr id="31" name="Shape 23"/>
          <p:cNvSpPr/>
          <p:nvPr/>
        </p:nvSpPr>
        <p:spPr>
          <a:xfrm>
            <a:off x="7315200" y="3246120"/>
            <a:ext cx="1600200" cy="1463040"/>
          </a:xfrm>
          <a:prstGeom prst="rect">
            <a:avLst/>
          </a:prstGeom>
          <a:solidFill>
            <a:srgbClr val="F3F5FB"/>
          </a:solidFill>
          <a:ln w="12700">
            <a:solidFill>
              <a:srgbClr val="E3E7F5"/>
            </a:solidFill>
            <a:prstDash val="solid"/>
          </a:ln>
        </p:spPr>
        <p:txBody>
          <a:bodyPr/>
          <a:lstStyle/>
          <a:p>
            <a:endParaRPr lang="en-US"/>
          </a:p>
        </p:txBody>
      </p:sp>
      <p:sp>
        <p:nvSpPr>
          <p:cNvPr id="32" name="Shape 24"/>
          <p:cNvSpPr/>
          <p:nvPr/>
        </p:nvSpPr>
        <p:spPr>
          <a:xfrm>
            <a:off x="7452360" y="3383280"/>
            <a:ext cx="502920" cy="502920"/>
          </a:xfrm>
          <a:prstGeom prst="ellipse">
            <a:avLst/>
          </a:prstGeom>
          <a:solidFill>
            <a:srgbClr val="FFFFFF"/>
          </a:solidFill>
          <a:ln w="12700">
            <a:solidFill>
              <a:srgbClr val="D5DBEE"/>
            </a:solidFill>
            <a:prstDash val="solid"/>
          </a:ln>
        </p:spPr>
        <p:txBody>
          <a:bodyPr/>
          <a:lstStyle/>
          <a:p>
            <a:endParaRPr lang="en-US"/>
          </a:p>
        </p:txBody>
      </p:sp>
      <p:pic>
        <p:nvPicPr>
          <p:cNvPr id="33" name="Image 6" descr="preencoded.png"/>
          <p:cNvPicPr>
            <a:picLocks noChangeAspect="1"/>
          </p:cNvPicPr>
          <p:nvPr/>
        </p:nvPicPr>
        <p:blipFill>
          <a:blip r:embed="rId9"/>
          <a:stretch>
            <a:fillRect/>
          </a:stretch>
        </p:blipFill>
        <p:spPr>
          <a:xfrm>
            <a:off x="7562088" y="3493008"/>
            <a:ext cx="292608" cy="292608"/>
          </a:xfrm>
          <a:prstGeom prst="rect">
            <a:avLst/>
          </a:prstGeom>
        </p:spPr>
      </p:pic>
      <p:sp>
        <p:nvSpPr>
          <p:cNvPr id="34" name="Text 25"/>
          <p:cNvSpPr/>
          <p:nvPr/>
        </p:nvSpPr>
        <p:spPr>
          <a:xfrm>
            <a:off x="7452360" y="3950208"/>
            <a:ext cx="1417320" cy="320040"/>
          </a:xfrm>
          <a:prstGeom prst="rect">
            <a:avLst/>
          </a:prstGeom>
          <a:noFill/>
          <a:ln/>
        </p:spPr>
        <p:txBody>
          <a:bodyPr wrap="square" lIns="0" tIns="0" rIns="0" bIns="0" rtlCol="0" anchor="ctr"/>
          <a:lstStyle/>
          <a:p>
            <a:pPr marL="0" indent="0">
              <a:buNone/>
            </a:pPr>
            <a:r>
              <a:rPr lang="en-US" sz="1300" b="1" dirty="0">
                <a:solidFill>
                  <a:srgbClr val="1E2A78"/>
                </a:solidFill>
                <a:latin typeface="Calibri" pitchFamily="34" charset="0"/>
                <a:ea typeface="Calibri" pitchFamily="34" charset="-122"/>
                <a:cs typeface="Calibri" pitchFamily="34" charset="-120"/>
              </a:rPr>
              <a:t>Ready-made recipes</a:t>
            </a:r>
            <a:endParaRPr lang="en-US" sz="1300" dirty="0"/>
          </a:p>
        </p:txBody>
      </p:sp>
      <p:sp>
        <p:nvSpPr>
          <p:cNvPr id="35" name="Text 26"/>
          <p:cNvSpPr/>
          <p:nvPr/>
        </p:nvSpPr>
        <p:spPr>
          <a:xfrm>
            <a:off x="7452360" y="4251960"/>
            <a:ext cx="1417320" cy="502920"/>
          </a:xfrm>
          <a:prstGeom prst="rect">
            <a:avLst/>
          </a:prstGeom>
          <a:noFill/>
          <a:ln/>
        </p:spPr>
        <p:txBody>
          <a:bodyPr wrap="square" lIns="0" tIns="0" rIns="0" bIns="0" rtlCol="0" anchor="ctr"/>
          <a:lstStyle/>
          <a:p>
            <a:pPr marL="0" indent="0">
              <a:buNone/>
            </a:pPr>
            <a:r>
              <a:rPr lang="en-US" sz="1100" dirty="0">
                <a:solidFill>
                  <a:srgbClr val="3A4253"/>
                </a:solidFill>
                <a:latin typeface="Calibri" pitchFamily="34" charset="0"/>
                <a:ea typeface="Calibri" pitchFamily="34" charset="-122"/>
                <a:cs typeface="Calibri" pitchFamily="34" charset="-120"/>
              </a:rPr>
              <a:t>Protocols for scRNA-seq,</a:t>
            </a:r>
            <a:endParaRPr lang="en-US" sz="1100" dirty="0"/>
          </a:p>
          <a:p>
            <a:pPr marL="0" indent="0">
              <a:buNone/>
            </a:pPr>
            <a:r>
              <a:rPr lang="en-US" sz="1100" dirty="0">
                <a:solidFill>
                  <a:srgbClr val="3A4253"/>
                </a:solidFill>
                <a:latin typeface="Calibri" pitchFamily="34" charset="0"/>
                <a:ea typeface="Calibri" pitchFamily="34" charset="-122"/>
                <a:cs typeface="Calibri" pitchFamily="34" charset="-120"/>
              </a:rPr>
              <a:t>imaging, and more.</a:t>
            </a:r>
            <a:endParaRPr lang="en-US" sz="1100" dirty="0"/>
          </a:p>
        </p:txBody>
      </p:sp>
      <p:pic>
        <p:nvPicPr>
          <p:cNvPr id="36" name="Image 7" descr="preencoded.png"/>
          <p:cNvPicPr>
            <a:picLocks noChangeAspect="1"/>
          </p:cNvPicPr>
          <p:nvPr/>
        </p:nvPicPr>
        <p:blipFill>
          <a:blip r:embed="rId10"/>
          <a:stretch>
            <a:fillRect/>
          </a:stretch>
        </p:blipFill>
        <p:spPr>
          <a:xfrm>
            <a:off x="3945636" y="4846320"/>
            <a:ext cx="201168" cy="201168"/>
          </a:xfrm>
          <a:prstGeom prst="rect">
            <a:avLst/>
          </a:prstGeom>
        </p:spPr>
      </p:pic>
      <p:sp>
        <p:nvSpPr>
          <p:cNvPr id="37" name="Text 27"/>
          <p:cNvSpPr/>
          <p:nvPr/>
        </p:nvSpPr>
        <p:spPr>
          <a:xfrm>
            <a:off x="4206240" y="4800600"/>
            <a:ext cx="493776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Built by biologists, for biologists.</a:t>
            </a:r>
            <a:endParaRPr lang="en-US" sz="1200" dirty="0"/>
          </a:p>
        </p:txBody>
      </p:sp>
      <p:pic>
        <p:nvPicPr>
          <p:cNvPr id="39" name="Picture 38">
            <a:extLst>
              <a:ext uri="{FF2B5EF4-FFF2-40B4-BE49-F238E27FC236}">
                <a16:creationId xmlns:a16="http://schemas.microsoft.com/office/drawing/2014/main" id="{ABC5A545-C14E-8D5D-43D3-426B2C257DDB}"/>
              </a:ext>
            </a:extLst>
          </p:cNvPr>
          <p:cNvPicPr>
            <a:picLocks noChangeAspect="1"/>
          </p:cNvPicPr>
          <p:nvPr/>
        </p:nvPicPr>
        <p:blipFill>
          <a:blip r:embed="rId11"/>
          <a:stretch>
            <a:fillRect/>
          </a:stretch>
        </p:blipFill>
        <p:spPr>
          <a:xfrm>
            <a:off x="8566558" y="4760341"/>
            <a:ext cx="513434" cy="3731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2A78"/>
          </a:solidFill>
          <a:ln w="12700">
            <a:solidFill>
              <a:srgbClr val="1E2A78"/>
            </a:solidFill>
            <a:prstDash val="solid"/>
          </a:ln>
        </p:spPr>
        <p:txBody>
          <a:bodyPr/>
          <a:lstStyle/>
          <a:p>
            <a:endParaRPr lang="en-US"/>
          </a:p>
        </p:txBody>
      </p:sp>
      <p:sp>
        <p:nvSpPr>
          <p:cNvPr id="3" name="Text 1"/>
          <p:cNvSpPr/>
          <p:nvPr/>
        </p:nvSpPr>
        <p:spPr>
          <a:xfrm>
            <a:off x="457200" y="164592"/>
            <a:ext cx="68580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can you do with Operon?</a:t>
            </a:r>
            <a:endParaRPr lang="en-US" sz="2600" dirty="0"/>
          </a:p>
        </p:txBody>
      </p:sp>
      <p:sp>
        <p:nvSpPr>
          <p:cNvPr id="4" name="Text 2"/>
          <p:cNvSpPr/>
          <p:nvPr/>
        </p:nvSpPr>
        <p:spPr>
          <a:xfrm>
            <a:off x="457200" y="566928"/>
            <a:ext cx="6858000" cy="274320"/>
          </a:xfrm>
          <a:prstGeom prst="rect">
            <a:avLst/>
          </a:prstGeom>
          <a:noFill/>
          <a:ln/>
        </p:spPr>
        <p:txBody>
          <a:bodyPr wrap="square" lIns="0" tIns="0" rIns="0" bIns="0" rtlCol="0" anchor="ctr"/>
          <a:lstStyle/>
          <a:p>
            <a:pPr marL="0" indent="0">
              <a:buNone/>
            </a:pPr>
            <a:r>
              <a:rPr lang="en-US" sz="1200" i="1" dirty="0">
                <a:solidFill>
                  <a:srgbClr val="BFC8FF"/>
                </a:solidFill>
                <a:latin typeface="Calibri" pitchFamily="34" charset="0"/>
                <a:ea typeface="Calibri" pitchFamily="34" charset="-122"/>
                <a:cs typeface="Calibri" pitchFamily="34" charset="-120"/>
              </a:rPr>
              <a:t>A tour in one page</a:t>
            </a:r>
            <a:endParaRPr lang="en-US" sz="1200" dirty="0"/>
          </a:p>
        </p:txBody>
      </p:sp>
      <p:sp>
        <p:nvSpPr>
          <p:cNvPr id="5" name="Shape 3"/>
          <p:cNvSpPr/>
          <p:nvPr/>
        </p:nvSpPr>
        <p:spPr>
          <a:xfrm>
            <a:off x="8321040" y="182880"/>
            <a:ext cx="502920" cy="502920"/>
          </a:xfrm>
          <a:prstGeom prst="ellipse">
            <a:avLst/>
          </a:prstGeom>
          <a:solidFill>
            <a:srgbClr val="F66B5E"/>
          </a:solidFill>
          <a:ln w="12700">
            <a:solidFill>
              <a:srgbClr val="F66B5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430768" y="292608"/>
            <a:ext cx="274320" cy="274320"/>
          </a:xfrm>
          <a:prstGeom prst="rect">
            <a:avLst/>
          </a:prstGeom>
        </p:spPr>
      </p:pic>
      <p:sp>
        <p:nvSpPr>
          <p:cNvPr id="7" name="Shape 4"/>
          <p:cNvSpPr/>
          <p:nvPr/>
        </p:nvSpPr>
        <p:spPr>
          <a:xfrm>
            <a:off x="457200" y="1143000"/>
            <a:ext cx="2651760" cy="1417320"/>
          </a:xfrm>
          <a:prstGeom prst="rect">
            <a:avLst/>
          </a:prstGeom>
          <a:solidFill>
            <a:srgbClr val="F3F5FB"/>
          </a:solidFill>
          <a:ln w="12700">
            <a:solidFill>
              <a:srgbClr val="E3E7F5"/>
            </a:solidFill>
            <a:prstDash val="solid"/>
          </a:ln>
        </p:spPr>
        <p:txBody>
          <a:bodyPr/>
          <a:lstStyle/>
          <a:p>
            <a:endParaRPr lang="en-US"/>
          </a:p>
        </p:txBody>
      </p:sp>
      <p:sp>
        <p:nvSpPr>
          <p:cNvPr id="8" name="Shape 5"/>
          <p:cNvSpPr/>
          <p:nvPr/>
        </p:nvSpPr>
        <p:spPr>
          <a:xfrm>
            <a:off x="457200" y="1143000"/>
            <a:ext cx="109728" cy="1417320"/>
          </a:xfrm>
          <a:prstGeom prst="rect">
            <a:avLst/>
          </a:prstGeom>
          <a:solidFill>
            <a:srgbClr val="0EA5A8"/>
          </a:solidFill>
          <a:ln w="12700">
            <a:solidFill>
              <a:srgbClr val="0EA5A8"/>
            </a:solidFill>
            <a:prstDash val="solid"/>
          </a:ln>
        </p:spPr>
        <p:txBody>
          <a:bodyPr/>
          <a:lstStyle/>
          <a:p>
            <a:endParaRPr lang="en-US"/>
          </a:p>
        </p:txBody>
      </p:sp>
      <p:sp>
        <p:nvSpPr>
          <p:cNvPr id="9" name="Shape 6"/>
          <p:cNvSpPr/>
          <p:nvPr/>
        </p:nvSpPr>
        <p:spPr>
          <a:xfrm>
            <a:off x="713232" y="1325880"/>
            <a:ext cx="502920" cy="502920"/>
          </a:xfrm>
          <a:prstGeom prst="roundRect">
            <a:avLst>
              <a:gd name="adj" fmla="val 14545"/>
            </a:avLst>
          </a:prstGeom>
          <a:solidFill>
            <a:srgbClr val="0EA5A8"/>
          </a:solidFill>
          <a:ln w="12700">
            <a:solidFill>
              <a:srgbClr val="0EA5A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22960" y="1435608"/>
            <a:ext cx="292608" cy="292608"/>
          </a:xfrm>
          <a:prstGeom prst="rect">
            <a:avLst/>
          </a:prstGeom>
        </p:spPr>
      </p:pic>
      <p:sp>
        <p:nvSpPr>
          <p:cNvPr id="11" name="Text 7"/>
          <p:cNvSpPr/>
          <p:nvPr/>
        </p:nvSpPr>
        <p:spPr>
          <a:xfrm>
            <a:off x="1325880" y="1307592"/>
            <a:ext cx="1691640" cy="347472"/>
          </a:xfrm>
          <a:prstGeom prst="rect">
            <a:avLst/>
          </a:prstGeom>
          <a:noFill/>
          <a:ln/>
        </p:spPr>
        <p:txBody>
          <a:bodyPr wrap="square" lIns="0" tIns="0" rIns="0" bIns="0" rtlCol="0" anchor="ctr"/>
          <a:lstStyle/>
          <a:p>
            <a:pPr marL="0" indent="0">
              <a:buNone/>
            </a:pPr>
            <a:r>
              <a:rPr lang="en-US" sz="1300" b="1" dirty="0">
                <a:solidFill>
                  <a:srgbClr val="1E2A78"/>
                </a:solidFill>
                <a:latin typeface="Calibri" pitchFamily="34" charset="0"/>
                <a:ea typeface="Calibri" pitchFamily="34" charset="-122"/>
                <a:cs typeface="Calibri" pitchFamily="34" charset="-120"/>
              </a:rPr>
              <a:t>Analyze single-cell data</a:t>
            </a:r>
            <a:endParaRPr lang="en-US" sz="1300" dirty="0"/>
          </a:p>
        </p:txBody>
      </p:sp>
      <p:sp>
        <p:nvSpPr>
          <p:cNvPr id="12" name="Text 8"/>
          <p:cNvSpPr/>
          <p:nvPr/>
        </p:nvSpPr>
        <p:spPr>
          <a:xfrm>
            <a:off x="1325880" y="1645920"/>
            <a:ext cx="1691640" cy="822960"/>
          </a:xfrm>
          <a:prstGeom prst="rect">
            <a:avLst/>
          </a:prstGeom>
          <a:noFill/>
          <a:ln/>
        </p:spPr>
        <p:txBody>
          <a:bodyPr wrap="square" lIns="0" tIns="0" rIns="0" bIns="0" rtlCol="0" anchor="ctr"/>
          <a:lstStyle/>
          <a:p>
            <a:pPr marL="0" indent="0">
              <a:buNone/>
            </a:pPr>
            <a:r>
              <a:rPr lang="en-US" sz="1100" dirty="0">
                <a:solidFill>
                  <a:srgbClr val="3A4253"/>
                </a:solidFill>
                <a:latin typeface="Calibri" pitchFamily="34" charset="0"/>
                <a:ea typeface="Calibri" pitchFamily="34" charset="-122"/>
                <a:cs typeface="Calibri" pitchFamily="34" charset="-120"/>
              </a:rPr>
              <a:t>Scanpy walkthroughs for scRNA-seq,</a:t>
            </a:r>
            <a:endParaRPr lang="en-US" sz="1100" dirty="0"/>
          </a:p>
          <a:p>
            <a:pPr marL="0" indent="0">
              <a:buNone/>
            </a:pPr>
            <a:r>
              <a:rPr lang="en-US" sz="1100" dirty="0">
                <a:solidFill>
                  <a:srgbClr val="3A4253"/>
                </a:solidFill>
                <a:latin typeface="Calibri" pitchFamily="34" charset="0"/>
                <a:ea typeface="Calibri" pitchFamily="34" charset="-122"/>
                <a:cs typeface="Calibri" pitchFamily="34" charset="-120"/>
              </a:rPr>
              <a:t>clustering, and cell-type labels.</a:t>
            </a:r>
            <a:endParaRPr lang="en-US" sz="1100" dirty="0"/>
          </a:p>
        </p:txBody>
      </p:sp>
      <p:sp>
        <p:nvSpPr>
          <p:cNvPr id="13" name="Shape 9"/>
          <p:cNvSpPr/>
          <p:nvPr/>
        </p:nvSpPr>
        <p:spPr>
          <a:xfrm>
            <a:off x="3291840" y="1143000"/>
            <a:ext cx="2651760" cy="1417320"/>
          </a:xfrm>
          <a:prstGeom prst="rect">
            <a:avLst/>
          </a:prstGeom>
          <a:solidFill>
            <a:srgbClr val="F3F5FB"/>
          </a:solidFill>
          <a:ln w="12700">
            <a:solidFill>
              <a:srgbClr val="E3E7F5"/>
            </a:solidFill>
            <a:prstDash val="solid"/>
          </a:ln>
        </p:spPr>
        <p:txBody>
          <a:bodyPr/>
          <a:lstStyle/>
          <a:p>
            <a:endParaRPr lang="en-US"/>
          </a:p>
        </p:txBody>
      </p:sp>
      <p:sp>
        <p:nvSpPr>
          <p:cNvPr id="14" name="Shape 10"/>
          <p:cNvSpPr/>
          <p:nvPr/>
        </p:nvSpPr>
        <p:spPr>
          <a:xfrm>
            <a:off x="3291840" y="1143000"/>
            <a:ext cx="109728" cy="1417320"/>
          </a:xfrm>
          <a:prstGeom prst="rect">
            <a:avLst/>
          </a:prstGeom>
          <a:solidFill>
            <a:srgbClr val="1E2A78"/>
          </a:solidFill>
          <a:ln w="12700">
            <a:solidFill>
              <a:srgbClr val="1E2A78"/>
            </a:solidFill>
            <a:prstDash val="solid"/>
          </a:ln>
        </p:spPr>
        <p:txBody>
          <a:bodyPr/>
          <a:lstStyle/>
          <a:p>
            <a:endParaRPr lang="en-US"/>
          </a:p>
        </p:txBody>
      </p:sp>
      <p:sp>
        <p:nvSpPr>
          <p:cNvPr id="15" name="Shape 11"/>
          <p:cNvSpPr/>
          <p:nvPr/>
        </p:nvSpPr>
        <p:spPr>
          <a:xfrm>
            <a:off x="3547872" y="1325880"/>
            <a:ext cx="502920" cy="502920"/>
          </a:xfrm>
          <a:prstGeom prst="roundRect">
            <a:avLst>
              <a:gd name="adj" fmla="val 14545"/>
            </a:avLst>
          </a:prstGeom>
          <a:solidFill>
            <a:srgbClr val="1E2A78"/>
          </a:solidFill>
          <a:ln w="12700">
            <a:solidFill>
              <a:srgbClr val="1E2A7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657600" y="1435608"/>
            <a:ext cx="292608" cy="292608"/>
          </a:xfrm>
          <a:prstGeom prst="rect">
            <a:avLst/>
          </a:prstGeom>
        </p:spPr>
      </p:pic>
      <p:sp>
        <p:nvSpPr>
          <p:cNvPr id="17" name="Text 12"/>
          <p:cNvSpPr/>
          <p:nvPr/>
        </p:nvSpPr>
        <p:spPr>
          <a:xfrm>
            <a:off x="4160520" y="1307592"/>
            <a:ext cx="1691640" cy="347472"/>
          </a:xfrm>
          <a:prstGeom prst="rect">
            <a:avLst/>
          </a:prstGeom>
          <a:noFill/>
          <a:ln/>
        </p:spPr>
        <p:txBody>
          <a:bodyPr wrap="square" lIns="0" tIns="0" rIns="0" bIns="0" rtlCol="0" anchor="ctr"/>
          <a:lstStyle/>
          <a:p>
            <a:r>
              <a:rPr lang="en-US" sz="1300" b="1" dirty="0">
                <a:solidFill>
                  <a:srgbClr val="1E2A78"/>
                </a:solidFill>
                <a:latin typeface="Calibri" pitchFamily="34" charset="0"/>
                <a:ea typeface="Calibri" pitchFamily="34" charset="-122"/>
                <a:cs typeface="Calibri" pitchFamily="34" charset="-120"/>
              </a:rPr>
              <a:t>Analyze spatial data. </a:t>
            </a:r>
            <a:endParaRPr lang="en-US" sz="1300" dirty="0"/>
          </a:p>
        </p:txBody>
      </p:sp>
      <p:sp>
        <p:nvSpPr>
          <p:cNvPr id="18" name="Text 13"/>
          <p:cNvSpPr/>
          <p:nvPr/>
        </p:nvSpPr>
        <p:spPr>
          <a:xfrm>
            <a:off x="4160520" y="1645920"/>
            <a:ext cx="1691640" cy="822960"/>
          </a:xfrm>
          <a:prstGeom prst="rect">
            <a:avLst/>
          </a:prstGeom>
          <a:noFill/>
          <a:ln/>
        </p:spPr>
        <p:txBody>
          <a:bodyPr wrap="square" lIns="0" tIns="0" rIns="0" bIns="0" rtlCol="0" anchor="ctr"/>
          <a:lstStyle/>
          <a:p>
            <a:r>
              <a:rPr lang="en-US" sz="1100" dirty="0">
                <a:solidFill>
                  <a:srgbClr val="3A4253"/>
                </a:solidFill>
                <a:latin typeface="Calibri" pitchFamily="34" charset="0"/>
                <a:ea typeface="Calibri" pitchFamily="34" charset="-122"/>
                <a:cs typeface="Calibri" pitchFamily="34" charset="-120"/>
              </a:rPr>
              <a:t>Spatial Transcriptomics Data Analysis </a:t>
            </a:r>
            <a:endParaRPr lang="en-US" sz="1100" dirty="0"/>
          </a:p>
        </p:txBody>
      </p:sp>
      <p:sp>
        <p:nvSpPr>
          <p:cNvPr id="19" name="Shape 14"/>
          <p:cNvSpPr/>
          <p:nvPr/>
        </p:nvSpPr>
        <p:spPr>
          <a:xfrm>
            <a:off x="457200" y="2743200"/>
            <a:ext cx="2651760" cy="1417320"/>
          </a:xfrm>
          <a:prstGeom prst="rect">
            <a:avLst/>
          </a:prstGeom>
          <a:solidFill>
            <a:srgbClr val="F3F5FB"/>
          </a:solidFill>
          <a:ln w="12700">
            <a:solidFill>
              <a:srgbClr val="E3E7F5"/>
            </a:solidFill>
            <a:prstDash val="solid"/>
          </a:ln>
        </p:spPr>
        <p:txBody>
          <a:bodyPr/>
          <a:lstStyle/>
          <a:p>
            <a:endParaRPr lang="en-US"/>
          </a:p>
        </p:txBody>
      </p:sp>
      <p:sp>
        <p:nvSpPr>
          <p:cNvPr id="20" name="Shape 15"/>
          <p:cNvSpPr/>
          <p:nvPr/>
        </p:nvSpPr>
        <p:spPr>
          <a:xfrm>
            <a:off x="457200" y="2743200"/>
            <a:ext cx="109728" cy="1417320"/>
          </a:xfrm>
          <a:prstGeom prst="rect">
            <a:avLst/>
          </a:prstGeom>
          <a:solidFill>
            <a:srgbClr val="F66B5E"/>
          </a:solidFill>
          <a:ln w="12700">
            <a:solidFill>
              <a:srgbClr val="F66B5E"/>
            </a:solidFill>
            <a:prstDash val="solid"/>
          </a:ln>
        </p:spPr>
        <p:txBody>
          <a:bodyPr/>
          <a:lstStyle/>
          <a:p>
            <a:endParaRPr lang="en-US"/>
          </a:p>
        </p:txBody>
      </p:sp>
      <p:sp>
        <p:nvSpPr>
          <p:cNvPr id="21" name="Shape 16"/>
          <p:cNvSpPr/>
          <p:nvPr/>
        </p:nvSpPr>
        <p:spPr>
          <a:xfrm>
            <a:off x="713232" y="2926080"/>
            <a:ext cx="502920" cy="502920"/>
          </a:xfrm>
          <a:prstGeom prst="roundRect">
            <a:avLst>
              <a:gd name="adj" fmla="val 14545"/>
            </a:avLst>
          </a:prstGeom>
          <a:solidFill>
            <a:srgbClr val="F66B5E"/>
          </a:solidFill>
          <a:ln w="12700">
            <a:solidFill>
              <a:srgbClr val="F66B5E"/>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822960" y="3035808"/>
            <a:ext cx="292608" cy="292608"/>
          </a:xfrm>
          <a:prstGeom prst="rect">
            <a:avLst/>
          </a:prstGeom>
        </p:spPr>
      </p:pic>
      <p:sp>
        <p:nvSpPr>
          <p:cNvPr id="23" name="Text 17"/>
          <p:cNvSpPr/>
          <p:nvPr/>
        </p:nvSpPr>
        <p:spPr>
          <a:xfrm>
            <a:off x="1325880" y="2907792"/>
            <a:ext cx="1691640" cy="347472"/>
          </a:xfrm>
          <a:prstGeom prst="rect">
            <a:avLst/>
          </a:prstGeom>
          <a:noFill/>
          <a:ln/>
        </p:spPr>
        <p:txBody>
          <a:bodyPr wrap="square" lIns="0" tIns="0" rIns="0" bIns="0" rtlCol="0" anchor="ctr"/>
          <a:lstStyle/>
          <a:p>
            <a:pPr marL="0" indent="0">
              <a:buNone/>
            </a:pPr>
            <a:r>
              <a:rPr lang="en-US" sz="1300" b="1" dirty="0">
                <a:solidFill>
                  <a:srgbClr val="1E2A78"/>
                </a:solidFill>
                <a:latin typeface="Calibri" pitchFamily="34" charset="0"/>
                <a:ea typeface="Calibri" pitchFamily="34" charset="-122"/>
                <a:cs typeface="Calibri" pitchFamily="34" charset="-120"/>
              </a:rPr>
              <a:t>Ask plain-language questions</a:t>
            </a:r>
            <a:endParaRPr lang="en-US" sz="1300" dirty="0"/>
          </a:p>
        </p:txBody>
      </p:sp>
      <p:sp>
        <p:nvSpPr>
          <p:cNvPr id="24" name="Text 18"/>
          <p:cNvSpPr/>
          <p:nvPr/>
        </p:nvSpPr>
        <p:spPr>
          <a:xfrm>
            <a:off x="1325880" y="3246120"/>
            <a:ext cx="1691640" cy="822960"/>
          </a:xfrm>
          <a:prstGeom prst="rect">
            <a:avLst/>
          </a:prstGeom>
          <a:noFill/>
          <a:ln/>
        </p:spPr>
        <p:txBody>
          <a:bodyPr wrap="square" lIns="0" tIns="0" rIns="0" bIns="0" rtlCol="0" anchor="ctr"/>
          <a:lstStyle/>
          <a:p>
            <a:pPr marL="0" indent="0">
              <a:buNone/>
            </a:pPr>
            <a:r>
              <a:rPr lang="en-US" sz="1100" dirty="0">
                <a:solidFill>
                  <a:srgbClr val="3A4253"/>
                </a:solidFill>
                <a:latin typeface="Calibri" pitchFamily="34" charset="0"/>
                <a:ea typeface="Calibri" pitchFamily="34" charset="-122"/>
                <a:cs typeface="Calibri" pitchFamily="34" charset="-120"/>
              </a:rPr>
              <a:t>“Plot UMAP by treatment.”</a:t>
            </a:r>
            <a:endParaRPr lang="en-US" sz="1100" dirty="0"/>
          </a:p>
          <a:p>
            <a:pPr marL="0" indent="0">
              <a:buNone/>
            </a:pPr>
            <a:r>
              <a:rPr lang="en-US" sz="1100" dirty="0">
                <a:solidFill>
                  <a:srgbClr val="3A4253"/>
                </a:solidFill>
                <a:latin typeface="Calibri" pitchFamily="34" charset="0"/>
                <a:ea typeface="Calibri" pitchFamily="34" charset="-122"/>
                <a:cs typeface="Calibri" pitchFamily="34" charset="-120"/>
              </a:rPr>
              <a:t>Operon writes and runs the code.</a:t>
            </a:r>
            <a:endParaRPr lang="en-US" sz="1100" dirty="0"/>
          </a:p>
        </p:txBody>
      </p:sp>
      <p:sp>
        <p:nvSpPr>
          <p:cNvPr id="25" name="Shape 19"/>
          <p:cNvSpPr/>
          <p:nvPr/>
        </p:nvSpPr>
        <p:spPr>
          <a:xfrm>
            <a:off x="3291840" y="2743200"/>
            <a:ext cx="2651760" cy="1417320"/>
          </a:xfrm>
          <a:prstGeom prst="rect">
            <a:avLst/>
          </a:prstGeom>
          <a:solidFill>
            <a:srgbClr val="F3F5FB"/>
          </a:solidFill>
          <a:ln w="12700">
            <a:solidFill>
              <a:srgbClr val="E3E7F5"/>
            </a:solidFill>
            <a:prstDash val="solid"/>
          </a:ln>
        </p:spPr>
        <p:txBody>
          <a:bodyPr/>
          <a:lstStyle/>
          <a:p>
            <a:endParaRPr lang="en-US"/>
          </a:p>
        </p:txBody>
      </p:sp>
      <p:sp>
        <p:nvSpPr>
          <p:cNvPr id="26" name="Shape 20"/>
          <p:cNvSpPr/>
          <p:nvPr/>
        </p:nvSpPr>
        <p:spPr>
          <a:xfrm>
            <a:off x="3291840" y="2743200"/>
            <a:ext cx="109728" cy="1417320"/>
          </a:xfrm>
          <a:prstGeom prst="rect">
            <a:avLst/>
          </a:prstGeom>
          <a:solidFill>
            <a:srgbClr val="3A4253"/>
          </a:solidFill>
          <a:ln w="12700">
            <a:solidFill>
              <a:srgbClr val="3A4253"/>
            </a:solidFill>
            <a:prstDash val="solid"/>
          </a:ln>
        </p:spPr>
        <p:txBody>
          <a:bodyPr/>
          <a:lstStyle/>
          <a:p>
            <a:endParaRPr lang="en-US"/>
          </a:p>
        </p:txBody>
      </p:sp>
      <p:sp>
        <p:nvSpPr>
          <p:cNvPr id="27" name="Shape 21"/>
          <p:cNvSpPr/>
          <p:nvPr/>
        </p:nvSpPr>
        <p:spPr>
          <a:xfrm>
            <a:off x="3547872" y="2926080"/>
            <a:ext cx="502920" cy="502920"/>
          </a:xfrm>
          <a:prstGeom prst="roundRect">
            <a:avLst>
              <a:gd name="adj" fmla="val 14545"/>
            </a:avLst>
          </a:prstGeom>
          <a:solidFill>
            <a:srgbClr val="3A4253"/>
          </a:solidFill>
          <a:ln w="12700">
            <a:solidFill>
              <a:srgbClr val="3A4253"/>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3657600" y="3035808"/>
            <a:ext cx="292608" cy="292608"/>
          </a:xfrm>
          <a:prstGeom prst="rect">
            <a:avLst/>
          </a:prstGeom>
        </p:spPr>
      </p:pic>
      <p:sp>
        <p:nvSpPr>
          <p:cNvPr id="29" name="Text 22"/>
          <p:cNvSpPr/>
          <p:nvPr/>
        </p:nvSpPr>
        <p:spPr>
          <a:xfrm>
            <a:off x="4160520" y="2907792"/>
            <a:ext cx="1691640" cy="347472"/>
          </a:xfrm>
          <a:prstGeom prst="rect">
            <a:avLst/>
          </a:prstGeom>
          <a:noFill/>
          <a:ln/>
        </p:spPr>
        <p:txBody>
          <a:bodyPr wrap="square" lIns="0" tIns="0" rIns="0" bIns="0" rtlCol="0" anchor="ctr"/>
          <a:lstStyle/>
          <a:p>
            <a:pPr marL="0" indent="0">
              <a:buNone/>
            </a:pPr>
            <a:r>
              <a:rPr lang="en-US" sz="1300" b="1" dirty="0">
                <a:solidFill>
                  <a:srgbClr val="1E2A78"/>
                </a:solidFill>
                <a:latin typeface="Calibri" pitchFamily="34" charset="0"/>
                <a:ea typeface="Calibri" pitchFamily="34" charset="-122"/>
                <a:cs typeface="Calibri" pitchFamily="34" charset="-120"/>
              </a:rPr>
              <a:t>Reuse lab protocols</a:t>
            </a:r>
            <a:endParaRPr lang="en-US" sz="1300" dirty="0"/>
          </a:p>
        </p:txBody>
      </p:sp>
      <p:sp>
        <p:nvSpPr>
          <p:cNvPr id="30" name="Text 23"/>
          <p:cNvSpPr/>
          <p:nvPr/>
        </p:nvSpPr>
        <p:spPr>
          <a:xfrm>
            <a:off x="4160520" y="3246120"/>
            <a:ext cx="1691640" cy="822960"/>
          </a:xfrm>
          <a:prstGeom prst="rect">
            <a:avLst/>
          </a:prstGeom>
          <a:noFill/>
          <a:ln/>
        </p:spPr>
        <p:txBody>
          <a:bodyPr wrap="square" lIns="0" tIns="0" rIns="0" bIns="0" rtlCol="0" anchor="ctr"/>
          <a:lstStyle/>
          <a:p>
            <a:pPr marL="0" indent="0">
              <a:buNone/>
            </a:pPr>
            <a:r>
              <a:rPr lang="en-US" sz="1100" dirty="0">
                <a:solidFill>
                  <a:srgbClr val="3A4253"/>
                </a:solidFill>
                <a:latin typeface="Calibri" pitchFamily="34" charset="0"/>
                <a:ea typeface="Calibri" pitchFamily="34" charset="-122"/>
                <a:cs typeface="Calibri" pitchFamily="34" charset="-120"/>
              </a:rPr>
              <a:t>Save your group’s best practices</a:t>
            </a:r>
            <a:endParaRPr lang="en-US" sz="1100" dirty="0"/>
          </a:p>
          <a:p>
            <a:pPr marL="0" indent="0">
              <a:buNone/>
            </a:pPr>
            <a:r>
              <a:rPr lang="en-US" sz="1100" dirty="0">
                <a:solidFill>
                  <a:srgbClr val="3A4253"/>
                </a:solidFill>
                <a:latin typeface="Calibri" pitchFamily="34" charset="0"/>
                <a:ea typeface="Calibri" pitchFamily="34" charset="-122"/>
                <a:cs typeface="Calibri" pitchFamily="34" charset="-120"/>
              </a:rPr>
              <a:t>and share them with new students.</a:t>
            </a:r>
            <a:endParaRPr lang="en-US" sz="1100" dirty="0"/>
          </a:p>
        </p:txBody>
      </p:sp>
      <p:sp>
        <p:nvSpPr>
          <p:cNvPr id="31" name="Shape 24"/>
          <p:cNvSpPr/>
          <p:nvPr/>
        </p:nvSpPr>
        <p:spPr>
          <a:xfrm>
            <a:off x="6263640" y="1143000"/>
            <a:ext cx="2606040" cy="3200400"/>
          </a:xfrm>
          <a:prstGeom prst="rect">
            <a:avLst/>
          </a:prstGeom>
          <a:solidFill>
            <a:srgbClr val="1E2A78"/>
          </a:solidFill>
          <a:ln w="12700">
            <a:solidFill>
              <a:srgbClr val="1E2A78"/>
            </a:solidFill>
            <a:prstDash val="solid"/>
          </a:ln>
        </p:spPr>
        <p:txBody>
          <a:bodyPr/>
          <a:lstStyle/>
          <a:p>
            <a:endParaRPr lang="en-US"/>
          </a:p>
        </p:txBody>
      </p:sp>
      <p:sp>
        <p:nvSpPr>
          <p:cNvPr id="32" name="Text 25"/>
          <p:cNvSpPr/>
          <p:nvPr/>
        </p:nvSpPr>
        <p:spPr>
          <a:xfrm>
            <a:off x="6400800" y="1307592"/>
            <a:ext cx="23317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SCAN TO GET OPERON</a:t>
            </a:r>
            <a:endParaRPr lang="en-US" sz="1200" dirty="0"/>
          </a:p>
        </p:txBody>
      </p:sp>
      <p:sp>
        <p:nvSpPr>
          <p:cNvPr id="33" name="Text 26"/>
          <p:cNvSpPr/>
          <p:nvPr/>
        </p:nvSpPr>
        <p:spPr>
          <a:xfrm>
            <a:off x="6400800" y="1600200"/>
            <a:ext cx="2331720" cy="274320"/>
          </a:xfrm>
          <a:prstGeom prst="rect">
            <a:avLst/>
          </a:prstGeom>
          <a:noFill/>
          <a:ln/>
        </p:spPr>
        <p:txBody>
          <a:bodyPr wrap="square" lIns="0" tIns="0" rIns="0" bIns="0" rtlCol="0" anchor="ctr"/>
          <a:lstStyle/>
          <a:p>
            <a:pPr marL="0" indent="0" algn="ctr">
              <a:buNone/>
            </a:pPr>
            <a:r>
              <a:rPr lang="en-US" sz="1000" i="1" dirty="0">
                <a:solidFill>
                  <a:srgbClr val="BFC8FF"/>
                </a:solidFill>
                <a:latin typeface="Calibri" pitchFamily="34" charset="0"/>
                <a:ea typeface="Calibri" pitchFamily="34" charset="-122"/>
                <a:cs typeface="Calibri" pitchFamily="34" charset="-120"/>
              </a:rPr>
              <a:t>Free for researchers</a:t>
            </a:r>
            <a:endParaRPr lang="en-US" sz="1000" dirty="0"/>
          </a:p>
        </p:txBody>
      </p:sp>
      <p:sp>
        <p:nvSpPr>
          <p:cNvPr id="34" name="Shape 27"/>
          <p:cNvSpPr/>
          <p:nvPr/>
        </p:nvSpPr>
        <p:spPr>
          <a:xfrm>
            <a:off x="6583680" y="1947672"/>
            <a:ext cx="1965960" cy="1965960"/>
          </a:xfrm>
          <a:prstGeom prst="rect">
            <a:avLst/>
          </a:prstGeom>
          <a:solidFill>
            <a:srgbClr val="FFFFFF"/>
          </a:solidFill>
          <a:ln w="12700">
            <a:solidFill>
              <a:srgbClr val="FFFFFF"/>
            </a:solidFill>
            <a:prstDash val="solid"/>
          </a:ln>
        </p:spPr>
        <p:txBody>
          <a:bodyPr/>
          <a:lstStyle/>
          <a:p>
            <a:endParaRPr lang="en-US"/>
          </a:p>
        </p:txBody>
      </p:sp>
      <p:pic>
        <p:nvPicPr>
          <p:cNvPr id="35" name="Image 5" descr="qr.png"/>
          <p:cNvPicPr>
            <a:picLocks noChangeAspect="1"/>
          </p:cNvPicPr>
          <p:nvPr/>
        </p:nvPicPr>
        <p:blipFill>
          <a:blip r:embed="rId8"/>
          <a:srcRect/>
          <a:stretch/>
        </p:blipFill>
        <p:spPr>
          <a:xfrm>
            <a:off x="6629400" y="1993392"/>
            <a:ext cx="1874520" cy="1874520"/>
          </a:xfrm>
          <a:prstGeom prst="rect">
            <a:avLst/>
          </a:prstGeom>
        </p:spPr>
      </p:pic>
      <p:sp>
        <p:nvSpPr>
          <p:cNvPr id="36" name="Text 28"/>
          <p:cNvSpPr/>
          <p:nvPr/>
        </p:nvSpPr>
        <p:spPr>
          <a:xfrm>
            <a:off x="6400800" y="3931920"/>
            <a:ext cx="233172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swaruplab.bio.uci.edu/operon</a:t>
            </a:r>
            <a:endParaRPr lang="en-US" sz="1100" dirty="0"/>
          </a:p>
        </p:txBody>
      </p:sp>
      <p:sp>
        <p:nvSpPr>
          <p:cNvPr id="37" name="Shape 29"/>
          <p:cNvSpPr/>
          <p:nvPr/>
        </p:nvSpPr>
        <p:spPr>
          <a:xfrm>
            <a:off x="457200" y="4434840"/>
            <a:ext cx="8229600" cy="594360"/>
          </a:xfrm>
          <a:prstGeom prst="rect">
            <a:avLst/>
          </a:prstGeom>
          <a:solidFill>
            <a:srgbClr val="F3F5FB"/>
          </a:solidFill>
          <a:ln w="12700">
            <a:solidFill>
              <a:srgbClr val="E3E7F5"/>
            </a:solidFill>
            <a:prstDash val="solid"/>
          </a:ln>
        </p:spPr>
        <p:txBody>
          <a:bodyPr/>
          <a:lstStyle/>
          <a:p>
            <a:endParaRPr lang="en-US"/>
          </a:p>
        </p:txBody>
      </p:sp>
      <p:sp>
        <p:nvSpPr>
          <p:cNvPr id="38" name="Text 30"/>
          <p:cNvSpPr/>
          <p:nvPr/>
        </p:nvSpPr>
        <p:spPr>
          <a:xfrm>
            <a:off x="640080" y="4562856"/>
            <a:ext cx="1645920" cy="347472"/>
          </a:xfrm>
          <a:prstGeom prst="rect">
            <a:avLst/>
          </a:prstGeom>
          <a:noFill/>
          <a:ln/>
        </p:spPr>
        <p:txBody>
          <a:bodyPr wrap="square" lIns="0" tIns="0" rIns="0" bIns="0" rtlCol="0" anchor="ctr"/>
          <a:lstStyle/>
          <a:p>
            <a:pPr marL="0" indent="0">
              <a:buNone/>
            </a:pPr>
            <a:r>
              <a:rPr lang="en-US" sz="1200" b="1" dirty="0">
                <a:solidFill>
                  <a:srgbClr val="1E2A78"/>
                </a:solidFill>
                <a:latin typeface="Calibri" pitchFamily="34" charset="0"/>
                <a:ea typeface="Calibri" pitchFamily="34" charset="-122"/>
                <a:cs typeface="Calibri" pitchFamily="34" charset="-120"/>
              </a:rPr>
              <a:t>Start in 3 steps:</a:t>
            </a:r>
            <a:endParaRPr lang="en-US" sz="1200" dirty="0"/>
          </a:p>
        </p:txBody>
      </p:sp>
      <p:sp>
        <p:nvSpPr>
          <p:cNvPr id="39" name="Shape 31"/>
          <p:cNvSpPr/>
          <p:nvPr/>
        </p:nvSpPr>
        <p:spPr>
          <a:xfrm>
            <a:off x="2331720" y="4572000"/>
            <a:ext cx="347472" cy="347472"/>
          </a:xfrm>
          <a:prstGeom prst="ellipse">
            <a:avLst/>
          </a:prstGeom>
          <a:solidFill>
            <a:srgbClr val="F66B5E"/>
          </a:solidFill>
          <a:ln w="12700">
            <a:solidFill>
              <a:srgbClr val="F66B5E"/>
            </a:solidFill>
            <a:prstDash val="solid"/>
          </a:ln>
        </p:spPr>
        <p:txBody>
          <a:bodyPr/>
          <a:lstStyle/>
          <a:p>
            <a:endParaRPr lang="en-US"/>
          </a:p>
        </p:txBody>
      </p:sp>
      <p:sp>
        <p:nvSpPr>
          <p:cNvPr id="40" name="Text 32"/>
          <p:cNvSpPr/>
          <p:nvPr/>
        </p:nvSpPr>
        <p:spPr>
          <a:xfrm>
            <a:off x="2331720" y="4590288"/>
            <a:ext cx="34747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1" name="Text 33"/>
          <p:cNvSpPr/>
          <p:nvPr/>
        </p:nvSpPr>
        <p:spPr>
          <a:xfrm>
            <a:off x="2743200" y="4590288"/>
            <a:ext cx="1691640" cy="320040"/>
          </a:xfrm>
          <a:prstGeom prst="rect">
            <a:avLst/>
          </a:prstGeom>
          <a:noFill/>
          <a:ln/>
        </p:spPr>
        <p:txBody>
          <a:bodyPr wrap="square" lIns="0" tIns="0" rIns="0" bIns="0" rtlCol="0" anchor="ctr"/>
          <a:lstStyle/>
          <a:p>
            <a:pPr marL="0" indent="0">
              <a:buNone/>
            </a:pPr>
            <a:r>
              <a:rPr lang="en-US" sz="1200" dirty="0">
                <a:solidFill>
                  <a:srgbClr val="3A4253"/>
                </a:solidFill>
                <a:latin typeface="Calibri" pitchFamily="34" charset="0"/>
                <a:ea typeface="Calibri" pitchFamily="34" charset="-122"/>
                <a:cs typeface="Calibri" pitchFamily="34" charset="-120"/>
              </a:rPr>
              <a:t>Download</a:t>
            </a:r>
            <a:endParaRPr lang="en-US" sz="1200" dirty="0"/>
          </a:p>
        </p:txBody>
      </p:sp>
      <p:sp>
        <p:nvSpPr>
          <p:cNvPr id="42" name="Shape 34"/>
          <p:cNvSpPr/>
          <p:nvPr/>
        </p:nvSpPr>
        <p:spPr>
          <a:xfrm>
            <a:off x="4480560" y="4572000"/>
            <a:ext cx="347472" cy="347472"/>
          </a:xfrm>
          <a:prstGeom prst="ellipse">
            <a:avLst/>
          </a:prstGeom>
          <a:solidFill>
            <a:srgbClr val="F66B5E"/>
          </a:solidFill>
          <a:ln w="12700">
            <a:solidFill>
              <a:srgbClr val="F66B5E"/>
            </a:solidFill>
            <a:prstDash val="solid"/>
          </a:ln>
        </p:spPr>
        <p:txBody>
          <a:bodyPr/>
          <a:lstStyle/>
          <a:p>
            <a:endParaRPr lang="en-US"/>
          </a:p>
        </p:txBody>
      </p:sp>
      <p:sp>
        <p:nvSpPr>
          <p:cNvPr id="43" name="Text 35"/>
          <p:cNvSpPr/>
          <p:nvPr/>
        </p:nvSpPr>
        <p:spPr>
          <a:xfrm>
            <a:off x="4480560" y="4590288"/>
            <a:ext cx="34747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4" name="Text 36"/>
          <p:cNvSpPr/>
          <p:nvPr/>
        </p:nvSpPr>
        <p:spPr>
          <a:xfrm>
            <a:off x="4892040" y="4590288"/>
            <a:ext cx="1691640" cy="320040"/>
          </a:xfrm>
          <a:prstGeom prst="rect">
            <a:avLst/>
          </a:prstGeom>
          <a:noFill/>
          <a:ln/>
        </p:spPr>
        <p:txBody>
          <a:bodyPr wrap="square" lIns="0" tIns="0" rIns="0" bIns="0" rtlCol="0" anchor="ctr"/>
          <a:lstStyle/>
          <a:p>
            <a:pPr marL="0" indent="0">
              <a:buNone/>
            </a:pPr>
            <a:r>
              <a:rPr lang="en-US" sz="1200" dirty="0">
                <a:solidFill>
                  <a:srgbClr val="3A4253"/>
                </a:solidFill>
                <a:latin typeface="Calibri" pitchFamily="34" charset="0"/>
                <a:ea typeface="Calibri" pitchFamily="34" charset="-122"/>
                <a:cs typeface="Calibri" pitchFamily="34" charset="-120"/>
              </a:rPr>
              <a:t>Log in with Claude*</a:t>
            </a:r>
            <a:endParaRPr lang="en-US" sz="1200" dirty="0"/>
          </a:p>
        </p:txBody>
      </p:sp>
      <p:sp>
        <p:nvSpPr>
          <p:cNvPr id="45" name="Shape 37"/>
          <p:cNvSpPr/>
          <p:nvPr/>
        </p:nvSpPr>
        <p:spPr>
          <a:xfrm>
            <a:off x="6629400" y="4572000"/>
            <a:ext cx="347472" cy="347472"/>
          </a:xfrm>
          <a:prstGeom prst="ellipse">
            <a:avLst/>
          </a:prstGeom>
          <a:solidFill>
            <a:srgbClr val="F66B5E"/>
          </a:solidFill>
          <a:ln w="12700">
            <a:solidFill>
              <a:srgbClr val="F66B5E"/>
            </a:solidFill>
            <a:prstDash val="solid"/>
          </a:ln>
        </p:spPr>
        <p:txBody>
          <a:bodyPr/>
          <a:lstStyle/>
          <a:p>
            <a:endParaRPr lang="en-US"/>
          </a:p>
        </p:txBody>
      </p:sp>
      <p:sp>
        <p:nvSpPr>
          <p:cNvPr id="46" name="Text 38"/>
          <p:cNvSpPr/>
          <p:nvPr/>
        </p:nvSpPr>
        <p:spPr>
          <a:xfrm>
            <a:off x="6629400" y="4590288"/>
            <a:ext cx="347472"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7" name="Text 39"/>
          <p:cNvSpPr/>
          <p:nvPr/>
        </p:nvSpPr>
        <p:spPr>
          <a:xfrm>
            <a:off x="7040880" y="4590288"/>
            <a:ext cx="1691640" cy="320040"/>
          </a:xfrm>
          <a:prstGeom prst="rect">
            <a:avLst/>
          </a:prstGeom>
          <a:noFill/>
          <a:ln/>
        </p:spPr>
        <p:txBody>
          <a:bodyPr wrap="square" lIns="0" tIns="0" rIns="0" bIns="0" rtlCol="0" anchor="ctr"/>
          <a:lstStyle/>
          <a:p>
            <a:pPr marL="0" indent="0">
              <a:buNone/>
            </a:pPr>
            <a:r>
              <a:rPr lang="en-US" sz="1200" dirty="0">
                <a:solidFill>
                  <a:srgbClr val="3A4253"/>
                </a:solidFill>
                <a:latin typeface="Calibri" pitchFamily="34" charset="0"/>
                <a:ea typeface="Calibri" pitchFamily="34" charset="-122"/>
                <a:cs typeface="Calibri" pitchFamily="34" charset="-120"/>
              </a:rPr>
              <a:t>Ask your first question</a:t>
            </a:r>
            <a:endParaRPr lang="en-US" sz="1200" dirty="0"/>
          </a:p>
        </p:txBody>
      </p:sp>
      <p:sp>
        <p:nvSpPr>
          <p:cNvPr id="48" name="Text 40"/>
          <p:cNvSpPr/>
          <p:nvPr/>
        </p:nvSpPr>
        <p:spPr>
          <a:xfrm>
            <a:off x="457200" y="4892040"/>
            <a:ext cx="8229600" cy="2286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Swarup Lab · University of California, Irvine</a:t>
            </a:r>
            <a:endParaRPr lang="en-US" sz="900" dirty="0"/>
          </a:p>
        </p:txBody>
      </p:sp>
      <p:pic>
        <p:nvPicPr>
          <p:cNvPr id="1028" name="Picture 4">
            <a:extLst>
              <a:ext uri="{FF2B5EF4-FFF2-40B4-BE49-F238E27FC236}">
                <a16:creationId xmlns:a16="http://schemas.microsoft.com/office/drawing/2014/main" id="{E69CEAA2-AB64-4EA9-B86A-85507ED7DD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83680" y="2314557"/>
            <a:ext cx="318366" cy="39244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Windows Logo, symbol, meaning, history ...">
            <a:extLst>
              <a:ext uri="{FF2B5EF4-FFF2-40B4-BE49-F238E27FC236}">
                <a16:creationId xmlns:a16="http://schemas.microsoft.com/office/drawing/2014/main" id="{14870D71-A4CB-D7DF-2C51-DC6852635A2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4861" r="19642"/>
          <a:stretch>
            <a:fillRect/>
          </a:stretch>
        </p:blipFill>
        <p:spPr bwMode="auto">
          <a:xfrm>
            <a:off x="6611112" y="2771063"/>
            <a:ext cx="362316" cy="3655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inux Tux Logo PNG Transparent &amp; SVG ...">
            <a:extLst>
              <a:ext uri="{FF2B5EF4-FFF2-40B4-BE49-F238E27FC236}">
                <a16:creationId xmlns:a16="http://schemas.microsoft.com/office/drawing/2014/main" id="{BA38138E-E023-8957-6C7F-0394C56C700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83681" y="3160435"/>
            <a:ext cx="389748" cy="29193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30BA7D94-E4DB-EF0F-8411-666FDFF89034}"/>
              </a:ext>
            </a:extLst>
          </p:cNvPr>
          <p:cNvPicPr>
            <a:picLocks noChangeAspect="1"/>
          </p:cNvPicPr>
          <p:nvPr/>
        </p:nvPicPr>
        <p:blipFill>
          <a:blip r:embed="rId12"/>
          <a:stretch>
            <a:fillRect/>
          </a:stretch>
        </p:blipFill>
        <p:spPr>
          <a:xfrm>
            <a:off x="8612963" y="4750587"/>
            <a:ext cx="513434" cy="373126"/>
          </a:xfrm>
          <a:prstGeom prst="rect">
            <a:avLst/>
          </a:prstGeom>
        </p:spPr>
      </p:pic>
      <p:sp>
        <p:nvSpPr>
          <p:cNvPr id="51" name="TextBox 50">
            <a:extLst>
              <a:ext uri="{FF2B5EF4-FFF2-40B4-BE49-F238E27FC236}">
                <a16:creationId xmlns:a16="http://schemas.microsoft.com/office/drawing/2014/main" id="{24FF7196-1A78-48BD-0776-C2021BD73D93}"/>
              </a:ext>
            </a:extLst>
          </p:cNvPr>
          <p:cNvSpPr txBox="1"/>
          <p:nvPr/>
        </p:nvSpPr>
        <p:spPr>
          <a:xfrm>
            <a:off x="5943600" y="4962028"/>
            <a:ext cx="1417376" cy="261610"/>
          </a:xfrm>
          <a:prstGeom prst="rect">
            <a:avLst/>
          </a:prstGeom>
          <a:noFill/>
        </p:spPr>
        <p:txBody>
          <a:bodyPr wrap="none" rtlCol="0">
            <a:spAutoFit/>
          </a:bodyPr>
          <a:lstStyle/>
          <a:p>
            <a:r>
              <a:rPr lang="en-US" sz="1100" i="1" dirty="0"/>
              <a:t>*subscription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233</Words>
  <Application>Microsoft Macintosh PowerPoint</Application>
  <PresentationFormat>On-screen Show (16:9)</PresentationFormat>
  <Paragraphs>46</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Georgia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 Operon</dc:title>
  <dc:subject>PptxGenJS Presentation</dc:subject>
  <dc:creator>Swarup Lab — UC Irvine</dc:creator>
  <cp:lastModifiedBy>Vivek Swarup</cp:lastModifiedBy>
  <cp:revision>7</cp:revision>
  <dcterms:created xsi:type="dcterms:W3CDTF">2026-04-15T17:59:15Z</dcterms:created>
  <dcterms:modified xsi:type="dcterms:W3CDTF">2026-04-15T20:33:24Z</dcterms:modified>
</cp:coreProperties>
</file>